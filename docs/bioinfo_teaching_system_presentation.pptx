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Noto Sans CJK SC"/>
              </a:rPr>
              <a:t>《生物信息学课程》教与学系统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487168"/>
            <a:ext cx="92354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0">
                <a:solidFill>
                  <a:srgbClr val="D9E4F0"/>
                </a:solidFill>
                <a:latin typeface="Noto Sans CJK SC"/>
              </a:rPr>
              <a:t>课程教学 · 智能出题 · 知识库 · 考试评价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3794760"/>
            <a:ext cx="169164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课程资源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3794760"/>
            <a:ext cx="1691640" cy="50292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AI 出题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3794760"/>
            <a:ext cx="1691640" cy="5029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人工审核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794760"/>
            <a:ext cx="1691640" cy="50292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学习评价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15000"/>
            <a:ext cx="9509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Noto Sans CJK SC"/>
              </a:rPr>
              <a:t>项目汇报展示 · 2026年08月26日 · 汇报成员：[待确认]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CBD5E1"/>
                </a:solidFill>
                <a:latin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项目背景与系统定位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系统架构与技术栈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核心模块：学生、教师、管理员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知识库、知识图谱与文献检索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功能演示、技术亮点与后续工作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项目概述：面向课程教学的完整闭环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面向生物信息学课程的 Web 教学、练习与考试平台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学生完成练习、考试、成绩查看与学习建议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教师使用 AI 生成题目，并通过审核保障题目质量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管理员管理账户、题目与知识库资源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资源 → 出题 → 审核 → 学习/考试 → 评价反馈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系统架构：Flask + MySQL + AI 服务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554480" cy="11430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浏览器
Jinja2 模板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286000"/>
            <a:ext cx="1554480" cy="11430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Flask
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2286000"/>
            <a:ext cx="1554480" cy="11430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MySQL
业务数据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286000"/>
            <a:ext cx="1554480" cy="11430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AI 服务
DeepSeek / Ollama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286000"/>
            <a:ext cx="1554480" cy="11430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SC"/>
              </a:rPr>
              <a:t>文献 API
Europe PMC / Crossref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95728" y="2670048"/>
            <a:ext cx="530352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864608" y="2670048"/>
            <a:ext cx="530352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333488" y="2670048"/>
            <a:ext cx="530352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281160" y="2670048"/>
            <a:ext cx="530352" cy="32004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32720" cy="10515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  <a:latin typeface="Noto Sans CJK SC"/>
              </a:rPr>
              <a:t>表现层：Jinja2、HTML/CSS、原生 JavaScript、D3.js
应用层：登录、题目、任务、知识库、组卷、考试、API 路由集中于 Flask 应用
数据层：用户、题目、任务、文档、概念、试卷和学习记录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技术栈总览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后端：Flask、Flask-Session、Gunicorn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数据库：MySQL + mysql-connector-python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AI 与网络：DeepSeek、Ollama、requests、aiohttp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文档处理：PyPDF2、python-docx、jieba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前端：Jinja2、原生 JavaScript、D3.js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学生模块：练习、考试与反馈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按主题、语言与难度抽取编程题或理论题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Python、Perl、Java、C 代码编辑、运行与提交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自动评分写入练习/考试记录，返回分数和评语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成绩页汇总 AI 评分、教师评分与考试记录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学习建议聚合考试、练习及知识库学习行为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教师出题：从需求到待审核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35454" cy="1600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输入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主题 · 难度 · 语言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9542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46" y="1874519"/>
            <a:ext cx="2035454" cy="16002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生成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DeepSeek / Ollama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9588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5892" y="1874519"/>
            <a:ext cx="2035454" cy="16002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任务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进度 · 日志 · 状态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9635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5939" y="1874519"/>
            <a:ext cx="2035454" cy="1600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落库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questions / theory_questions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9681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1874519"/>
            <a:ext cx="2035454" cy="1600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待审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教师质量把关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Noto Sans CJK SC"/>
              </a:rPr>
              <a:t>理论题支持 PDF 或知识库文本；单次文本最多 50,000 字符。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题目审核：质量控制链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35454" cy="1600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待审核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统一题目列表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9542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46" y="1874519"/>
            <a:ext cx="2035454" cy="1600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查看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题目 · 答案 · 关联文档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9588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5892" y="1874519"/>
            <a:ext cx="2035454" cy="16002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决策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通过 / 驳回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9635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5939" y="1874519"/>
            <a:ext cx="2035454" cy="16002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记录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原因 · 审核人 · 时间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9681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1874519"/>
            <a:ext cx="2035454" cy="1600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复用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题库 · 考试 · 组卷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Noto Sans CJK SC"/>
              </a:rPr>
              <a:t>三状态：pending → approved / rejected。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知识库：文档到知识图谱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35454" cy="1600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上传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PDF · TXT · DOCX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9542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46" y="1874519"/>
            <a:ext cx="2035454" cy="16002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抽取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概念 · 类型 · 频率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9588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5892" y="1874519"/>
            <a:ext cx="2035454" cy="16002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建边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概念关系 · 置信度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9635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5939" y="1874519"/>
            <a:ext cx="2035454" cy="1600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聚合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合并同名概念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9681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1874519"/>
            <a:ext cx="2035454" cy="1600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可视化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D3 力导向图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Noto Sans CJK SC"/>
              </a:rPr>
              <a:t>知识库把文档内容转化为可浏览、可关联的学习资源。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智能组卷：题库到 A/B 卷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35454" cy="1600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筛选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已审核题目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9542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46" y="1874519"/>
            <a:ext cx="2035454" cy="16002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配置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题型 · 数量 · 分值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9588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5892" y="1874519"/>
            <a:ext cx="2035454" cy="16002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平衡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难度 · 知识点覆盖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9635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5939" y="1874519"/>
            <a:ext cx="2035454" cy="1600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生成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A 卷 · B 卷 · 答案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9681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1874519"/>
            <a:ext cx="2035454" cy="1600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输出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预览 · PDF · 克隆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Noto Sans CJK SC"/>
              </a:rPr>
              <a:t>题目不足时给出降级提示，不静默生成空试卷。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文献检索：检索到学习沉淀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035454" cy="1600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检索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期刊 · 关键词 · 年份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39542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5846" y="1874519"/>
            <a:ext cx="2035454" cy="160020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获取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Europe PMC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39588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5892" y="1874519"/>
            <a:ext cx="2035454" cy="16002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回退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无记录 → Crossref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39635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5939" y="1874519"/>
            <a:ext cx="2035454" cy="16002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分析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创新点 · 深入研读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9681" y="2487168"/>
            <a:ext cx="128016" cy="256032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85985" y="1874519"/>
            <a:ext cx="2035454" cy="1600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CJK SC"/>
              </a:rPr>
              <a:t>沉淀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Noto Sans CJK SC"/>
              </a:rPr>
              <a:t>CSV · 学习笔记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700" b="0">
                <a:solidFill>
                  <a:srgbClr val="64748B"/>
                </a:solidFill>
                <a:latin typeface="Noto Sans CJK SC"/>
              </a:rPr>
              <a:t>学生与教师均可访问文献检索页面；教师/管理员可维护期刊。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功能演示主线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98448" y="2011680"/>
            <a:ext cx="530352" cy="53035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600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知识库/PDF
生成理论题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68880" y="214884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566160" y="2011680"/>
            <a:ext cx="530352" cy="53035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4952" y="2788920"/>
            <a:ext cx="1600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教师审核
进入题库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36592" y="214884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33872" y="2011680"/>
            <a:ext cx="530352" cy="53035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2788920"/>
            <a:ext cx="1600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学生练习
运行并提交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04304" y="214884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01583" y="2011680"/>
            <a:ext cx="530352" cy="53035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0375" y="2788920"/>
            <a:ext cx="1600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AI 评分
学习反馈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72015" y="2148840"/>
            <a:ext cx="50292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69296" y="2011680"/>
            <a:ext cx="530352" cy="53035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48088" y="2788920"/>
            <a:ext cx="16002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Noto Sans CJK SC"/>
              </a:rPr>
              <a:t>组卷与
教学复用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51960"/>
            <a:ext cx="102412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Noto Sans CJK SC"/>
              </a:rPr>
              <a:t>建议现场演示：教师生成题目 → 审核通过 → 学生完成练习 → 查看知识库/图谱/笔记 → 教师组卷。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核心数据模型与数据流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users：账号、工号、角色、登录状态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questions / theory_questions：编程题与理论题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tasks：AI 生成任务、进度、日志与结果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knowledge_bases → documents → concepts → relations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exams / exercises / suggestions：学习记录、评价与反馈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技术实现亮点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DeepSeek 与本地 Ollama 可切换，用于出题、评分与建议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多语言代码执行覆盖 Python、Perl、Java 与 C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同名概念合并、频率聚合、关系端点映射支撑图谱展示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旧数据库字段采用幂等补齐，降低历史数据升级成本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文献检索具备 Europe PMC → Crossref 的容错回退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8136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10243A"/>
                </a:solidFill>
                <a:latin typeface="Noto Sans CJK SC"/>
              </a:rPr>
              <a:t>当前状态与后续工作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033271"/>
            <a:ext cx="1024128" cy="5029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6384" y="1472184"/>
            <a:ext cx="118872" cy="11887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389888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已实现三角色控制台、AI 出题/审核、知识库/图谱、练习/考试、组卷、文献检索和学习笔记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2185415"/>
            <a:ext cx="118872" cy="11887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当前主应用约 9,677 行 app.py，模板约 54 个，采用单体 Flask 架构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898648"/>
            <a:ext cx="118872" cy="11887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16352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后续统一项目文档、部署配置与数据库 schema 版本说明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3611880"/>
            <a:ext cx="118872" cy="11887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后续强化代码执行隔离、权限控制、自动化测试与任务队列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4325112"/>
            <a:ext cx="118872" cy="11887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42816"/>
            <a:ext cx="10332720" cy="49377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Noto Sans CJK SC"/>
              </a:rPr>
              <a:t>团队成员分工：[待确认]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Noto Sans CJK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00200"/>
            <a:ext cx="1051560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Noto Sans CJK SC"/>
              </a:rP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D9E4F0"/>
                </a:solidFill>
                <a:latin typeface="Noto Sans CJK SC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39"/>
            <a:ext cx="996696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Noto Sans CJK SC"/>
              </a:rPr>
              <a:t>当前部署入口：http://172.24.64.53:8080
项目链接：[待补充]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9601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CBD5E1"/>
                </a:solidFill>
                <a:latin typeface="Noto Sans CJK SC"/>
              </a:rPr>
              <a:t>《生物信息学课程》教与学系统 · 项目汇报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46520"/>
            <a:ext cx="41148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CBD5E1"/>
                </a:solidFill>
                <a:latin typeface="Noto Sans CJK SC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