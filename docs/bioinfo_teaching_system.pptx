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项目名称与定位来源：README.md；成员信息未在项目文档中明确。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项目链接未在仓库中以可验证的正式主页形式统一记录，展示时请补充最终链接。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《生物信息学课程》教与学系统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课程教学、智能出题、知识库与考试评价平台</a:t>
            </a:r>
          </a:p>
          <a:p>
            <a:r>
              <a:t>项目汇报展示 · 2026年08月26日</a:t>
            </a:r>
          </a:p>
          <a:p>
            <a:r>
              <a:t>汇报成员：[待确认]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项目概述与目标</a:t>
            </a:r>
          </a:p>
          <a:p>
            <a:pPr/>
            <a:r>
              <a:rPr/>
              <a:t>系统架构与技术栈</a:t>
            </a:r>
          </a:p>
          <a:p>
            <a:pPr/>
            <a:r>
              <a:rPr/>
              <a:t>学生、教师、管理员核心模块</a:t>
            </a:r>
          </a:p>
          <a:p>
            <a:pPr/>
            <a:r>
              <a:rPr/>
              <a:t>知识库、知识图谱与文献检索</a:t>
            </a:r>
          </a:p>
          <a:p>
            <a:pPr/>
            <a:r>
              <a:rPr/>
              <a:t>功能演示与数据流</a:t>
            </a:r>
          </a:p>
          <a:p>
            <a:pPr/>
            <a:r>
              <a:rPr/>
              <a:t>技术亮点、现状与展望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来源：README.md:5-35；app.py:1724-9577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项目概述：构建生物信息学教学闭环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Flask Web 教学与考试平台，支持学生练习、考试和教师教学管理</a:t>
            </a:r>
          </a:p>
          <a:p>
            <a:pPr/>
            <a:r>
              <a:rPr/>
              <a:t>学生：在线考试、模拟考试、练习、成绩和学习建议</a:t>
            </a:r>
          </a:p>
          <a:p>
            <a:pPr/>
            <a:r>
              <a:rPr/>
              <a:t>教师：AI 出题、题目审核、知识库、知识图谱、组卷和考试记录</a:t>
            </a:r>
          </a:p>
          <a:p>
            <a:pPr/>
            <a:r>
              <a:rPr/>
              <a:t>管理员：账户、题目、知识库和全局管理</a:t>
            </a:r>
          </a:p>
          <a:p>
            <a:pPr/>
            <a:r>
              <a:rPr/>
              <a:t>核心闭环：资源 → AI 出题 → 人工审核 → 学习/考试 → 评价反馈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来源：README.md:1-35；docs/system-manual.md:23-39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系统架构：单体 Flask + MySQL + AI 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表现层：Jinja2 模板、HTML/CSS、原生 JavaScript</a:t>
            </a:r>
          </a:p>
          <a:p>
            <a:pPr/>
            <a:r>
              <a:rPr/>
              <a:t>应用层：app.py 集中实现登录、学生、教师、管理员及 API 路由</a:t>
            </a:r>
          </a:p>
          <a:p>
            <a:pPr/>
            <a:r>
              <a:rPr/>
              <a:t>数据层：MySQL code_exam_v231，保存用户、题目、任务、知识库和学习记录</a:t>
            </a:r>
          </a:p>
          <a:p>
            <a:pPr/>
            <a:r>
              <a:rPr/>
              <a:t>智能层：DeepSeek API + 本地 Ollama，用于出题、评分、建议和关系抽取</a:t>
            </a:r>
          </a:p>
          <a:p>
            <a:pPr/>
            <a:r>
              <a:rPr/>
              <a:t>外部资源：Europe PMC 文献检索；当前前端增加 Crossref 回退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来源：README.md:37-77；requirements.txt；myscripts/config_modules/my_config.py:7-36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2103120" cy="64008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浏览器 / Jinja2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5074920"/>
            <a:ext cx="640080" cy="320040"/>
          </a:xfrm>
          <a:prstGeom prst="right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4937760"/>
            <a:ext cx="2103120" cy="640080"/>
          </a:xfrm>
          <a:prstGeom prst="roundRect">
            <a:avLst/>
          </a:prstGeom>
          <a:solidFill>
            <a:srgbClr val="00A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Flask app.py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5074920"/>
            <a:ext cx="640080" cy="320040"/>
          </a:xfrm>
          <a:prstGeom prst="right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4937760"/>
            <a:ext cx="2103120" cy="640080"/>
          </a:xfrm>
          <a:prstGeom prst="roundRect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MySQL 数据层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15400" y="5074920"/>
            <a:ext cx="640080" cy="320040"/>
          </a:xfrm>
          <a:prstGeom prst="right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4937760"/>
            <a:ext cx="1828800" cy="640080"/>
          </a:xfrm>
          <a:prstGeom prst="round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AI / 文献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后端：Flask、Flask-Session、Gunicorn</a:t>
            </a:r>
          </a:p>
          <a:p>
            <a:pPr/>
            <a:r>
              <a:rPr/>
              <a:t>数据库：MySQL + mysql-connector-python</a:t>
            </a:r>
          </a:p>
          <a:p>
            <a:pPr/>
            <a:r>
              <a:rPr/>
              <a:t>AI/网络：requests、aiohttp、DeepSeek、Ollama</a:t>
            </a:r>
          </a:p>
          <a:p>
            <a:pPr/>
            <a:r>
              <a:rPr/>
              <a:t>文档：PyPDF2、python-docx；中文分词：jieba</a:t>
            </a:r>
          </a:p>
          <a:p>
            <a:pPr/>
            <a:r>
              <a:rPr/>
              <a:t>前端：Jinja2、原生 JavaScript、D3.js；运行入口 app:app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来源：requirements.txt:1-10；README.md:142-150；static/js/d3.min.js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学生模块：练习、考试与反馈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按主题、语言、难度抽取编程题或理论题</a:t>
            </a:r>
          </a:p>
          <a:p>
            <a:pPr/>
            <a:r>
              <a:rPr/>
              <a:t>CodeMirror 编辑器支持 Python、Perl、Java、C 代码输入与运行</a:t>
            </a:r>
          </a:p>
          <a:p>
            <a:pPr/>
            <a:r>
              <a:rPr/>
              <a:t>提交后调用自动评分，记录 exercises/exams 中的答案、分数和评语</a:t>
            </a:r>
          </a:p>
          <a:p>
            <a:pPr/>
            <a:r>
              <a:rPr/>
              <a:t>成绩页汇总 AI/教师评分与考试记录</a:t>
            </a:r>
          </a:p>
          <a:p>
            <a:pPr/>
            <a:r>
              <a:rPr/>
              <a:t>学习建议聚合考试、练习和知识库学习数据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来源：app.py:2012-2874；templates/exercise.html；templates/student_dashboard.html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教师模块：AI 出题与后台任务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编程题：支持模板主题、知识库概念和自定义主题</a:t>
            </a:r>
          </a:p>
          <a:p>
            <a:pPr/>
            <a:r>
              <a:rPr/>
              <a:t>理论题：可使用 PDF 提取文本或知识库文档内容，文本上限 50,000 字符，PDF 最多 50 页</a:t>
            </a:r>
          </a:p>
          <a:p>
            <a:pPr/>
            <a:r>
              <a:rPr/>
              <a:t>任务写入 tasks 表，跟踪 pending/processing/completed/failed、进度和日志</a:t>
            </a:r>
          </a:p>
          <a:p>
            <a:pPr/>
            <a:r>
              <a:rPr/>
              <a:t>生成结果写入 questions 或 theory_questions，初始进入待审核状态</a:t>
            </a:r>
          </a:p>
          <a:p>
            <a:pPr/>
            <a:r>
              <a:rPr/>
              <a:t>教师可从任务详情查看生成过程和结果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来源：app.py:3117-3284；app.py:4433-4561；app.py:8487-9002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题目审核：AI 之后的人工质量控制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统一联合 questions 与 theory_questions 两类题目</a:t>
            </a:r>
          </a:p>
          <a:p>
            <a:pPr/>
            <a:r>
              <a:rPr/>
              <a:t>支持待审核、已通过、已驳回状态筛选</a:t>
            </a:r>
          </a:p>
          <a:p>
            <a:pPr/>
            <a:r>
              <a:rPr/>
              <a:t>通过后进入题库；驳回可记录原因；支持重新提交审核</a:t>
            </a:r>
          </a:p>
          <a:p>
            <a:pPr/>
            <a:r>
              <a:rPr/>
              <a:t>审核记录包含 review_status、review_comment、reviewed_by、reviewed_at</a:t>
            </a:r>
          </a:p>
          <a:p>
            <a:pPr/>
            <a:r>
              <a:rPr/>
              <a:t>审核通过题目才能用于正式考试和智能组卷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来源：app.py:3286-3617；templates/review_questions.html；myscripts/config_modules/my_config.py:65-80,233-249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知识库与知识图谱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教师创建知识库并上传 PDF/TXT/DOC/DOCX 文档</a:t>
            </a:r>
          </a:p>
          <a:p>
            <a:pPr/>
            <a:r>
              <a:rPr/>
              <a:t>文档内容保存到 knowledge_documents，并与题目、概念建立关联</a:t>
            </a:r>
          </a:p>
          <a:p>
            <a:pPr/>
            <a:r>
              <a:rPr/>
              <a:t>概念抽取保存名称、描述、类型、频率、位置等节点信息</a:t>
            </a:r>
          </a:p>
          <a:p>
            <a:pPr/>
            <a:r>
              <a:rPr/>
              <a:t>concept_relations 保存概念之间的关系和置信度</a:t>
            </a:r>
          </a:p>
          <a:p>
            <a:pPr/>
            <a:r>
              <a:rPr/>
              <a:t>图谱页合并同名概念、聚合频率，并使用 D3 力导向布局展示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来源：app.py:6071-6980,7817-8292；myscripts/config_modules/my_config.py:262-330；templates/teacher/knowledge_graph.html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智能组卷：从题库到 A/B 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教师配置课程、考试时长、题型、数量、分值和难度分布</a:t>
            </a:r>
          </a:p>
          <a:p>
            <a:pPr/>
            <a:r>
              <a:rPr/>
              <a:t>ExamPaperGenerator 从已审核题目中筛选编程题和理论题</a:t>
            </a:r>
          </a:p>
          <a:p>
            <a:pPr/>
            <a:r>
              <a:rPr/>
              <a:t>支持综合、聚焦、随机等知识点覆盖策略及题目不足时的降级提示</a:t>
            </a:r>
          </a:p>
          <a:p>
            <a:pPr/>
            <a:r>
              <a:rPr/>
              <a:t>生成 A 卷、B 卷及答案 JSON，保存到 exam_papers</a:t>
            </a:r>
          </a:p>
          <a:p>
            <a:pPr/>
            <a:r>
              <a:rPr/>
              <a:t>支持预览、PDF 下载、试卷管理和克隆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来源：myscripts/exam_tools/exam_paper_generator.py:12-160；app.py:9249-9577；my_config.py:386-399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文献检索与学习笔记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文献检索支持期刊、关键词、年份范围和每页数量筛选</a:t>
            </a:r>
          </a:p>
          <a:p>
            <a:pPr/>
            <a:r>
              <a:rPr/>
              <a:t>卡片展示标题、作者、期刊、年份、DOI、引用数、OA 标记和摘要</a:t>
            </a:r>
          </a:p>
          <a:p>
            <a:pPr/>
            <a:r>
              <a:rPr/>
              <a:t>支持创新点/应用提取、单篇深入研读和 CSV 导出</a:t>
            </a:r>
          </a:p>
          <a:p>
            <a:pPr/>
            <a:r>
              <a:rPr/>
              <a:t>Europe PMC 无有效结果时，前端自动使用 Crossref 回退</a:t>
            </a:r>
          </a:p>
          <a:p>
            <a:pPr/>
            <a:r>
              <a:rPr/>
              <a:t>学生可将文献阅读、概念学习和抽题练习想法保存为学习笔记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来源：templates/bioinfo-articles.html:240-555；docs/bioinfo-articles.md:13-23；app.py:7363-7599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功能演示主线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1. 教师登录 → PDF/知识库生成理论题 → 查看任务完成状态</a:t>
            </a:r>
          </a:p>
          <a:p>
            <a:pPr/>
            <a:r>
              <a:rPr/>
              <a:t>2. 待审核题库 → 查看题目 → 通过/驳回 → 题库浏览</a:t>
            </a:r>
          </a:p>
          <a:p>
            <a:pPr/>
            <a:r>
              <a:rPr/>
              <a:t>3. 学生登录 → 选择理论题或编程题 → 编辑、运行、提交</a:t>
            </a:r>
          </a:p>
          <a:p>
            <a:pPr/>
            <a:r>
              <a:rPr/>
              <a:t>4. 学生查看公开知识库 → 文档/概念/图谱 → 记录学习想法</a:t>
            </a:r>
          </a:p>
          <a:p>
            <a:pPr/>
            <a:r>
              <a:rPr/>
              <a:t>5. 教师使用已审核题目 → 配置并生成 A/B 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来源：docs/system-manual.md:390-412；app.py 相关路由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4754880"/>
            <a:ext cx="1920240" cy="731520"/>
          </a:xfrm>
          <a:prstGeom prst="chevron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生成</a:t>
            </a:r>
          </a:p>
        </p:txBody>
      </p:sp>
      <p:sp>
        <p:nvSpPr>
          <p:cNvPr id="8" name="Chevron 7"/>
          <p:cNvSpPr/>
          <p:nvPr/>
        </p:nvSpPr>
        <p:spPr>
          <a:xfrm>
            <a:off x="2560320" y="4754880"/>
            <a:ext cx="1920240" cy="731520"/>
          </a:xfrm>
          <a:prstGeom prst="chevron">
            <a:avLst/>
          </a:prstGeom>
          <a:solidFill>
            <a:srgbClr val="00A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审核</a:t>
            </a:r>
          </a:p>
        </p:txBody>
      </p:sp>
      <p:sp>
        <p:nvSpPr>
          <p:cNvPr id="9" name="Chevron 8"/>
          <p:cNvSpPr/>
          <p:nvPr/>
        </p:nvSpPr>
        <p:spPr>
          <a:xfrm>
            <a:off x="4480560" y="4754880"/>
            <a:ext cx="1920240" cy="731520"/>
          </a:xfrm>
          <a:prstGeom prst="chevron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练习</a:t>
            </a:r>
          </a:p>
        </p:txBody>
      </p:sp>
      <p:sp>
        <p:nvSpPr>
          <p:cNvPr id="10" name="Chevron 9"/>
          <p:cNvSpPr/>
          <p:nvPr/>
        </p:nvSpPr>
        <p:spPr>
          <a:xfrm>
            <a:off x="6400800" y="4754880"/>
            <a:ext cx="1920240" cy="731520"/>
          </a:xfrm>
          <a:prstGeom prst="chevron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评价</a:t>
            </a:r>
          </a:p>
        </p:txBody>
      </p:sp>
      <p:sp>
        <p:nvSpPr>
          <p:cNvPr id="11" name="Chevron 10"/>
          <p:cNvSpPr/>
          <p:nvPr/>
        </p:nvSpPr>
        <p:spPr>
          <a:xfrm>
            <a:off x="8321040" y="4754880"/>
            <a:ext cx="1920240" cy="731520"/>
          </a:xfrm>
          <a:prstGeom prst="chevron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反馈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核心数据模型与数据流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users：账号、工号、角色、登录状态</a:t>
            </a:r>
          </a:p>
          <a:p>
            <a:pPr/>
            <a:r>
              <a:rPr/>
              <a:t>questions / theory_questions：编程题和理论题，独立 ID 空间并通过 source_type 区分详情链接</a:t>
            </a:r>
          </a:p>
          <a:p>
            <a:pPr/>
            <a:r>
              <a:rPr/>
              <a:t>tasks：AI 生成任务、进度、日志和结果</a:t>
            </a:r>
          </a:p>
          <a:p>
            <a:pPr/>
            <a:r>
              <a:rPr/>
              <a:t>knowledge_bases → knowledge_documents → knowledge_concepts → concept_relations</a:t>
            </a:r>
          </a:p>
          <a:p>
            <a:pPr/>
            <a:r>
              <a:rPr/>
              <a:t>exams / exercises / study_suggestions：学习行为、评分和个性化反馈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来源：myscripts/config_modules/my_config.py:96-170,233-399；app.py:3286-3617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技术实现亮点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多模型协同：DeepSeek API 与本地 Ollama 可切换</a:t>
            </a:r>
          </a:p>
          <a:p>
            <a:pPr/>
            <a:r>
              <a:rPr/>
              <a:t>多语言代码执行：Python/Perl 直接运行，Java 编译后运行，C 使用 gcc</a:t>
            </a:r>
          </a:p>
          <a:p>
            <a:pPr/>
            <a:r>
              <a:rPr/>
              <a:t>知识图谱：同名概念合并、频率聚合、关系端点映射、D3 可视化</a:t>
            </a:r>
          </a:p>
          <a:p>
            <a:pPr/>
            <a:r>
              <a:rPr/>
              <a:t>旧数据库兼容：审核字段、图谱字段等采用幂等补齐逻辑</a:t>
            </a:r>
          </a:p>
          <a:p>
            <a:pPr/>
            <a:r>
              <a:rPr/>
              <a:t>文献检索容错：Europe PMC 无记录时切换 Crossref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来源：app.py:72-234,6757-6917；my_config.py:475-542；templates/bioinfo-articles.html:411-555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当前实现状态与后续工作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已实现：三角色控制台、AI 出题/审题、知识库/图谱、练习/考试、组卷、文献检索、学习笔记</a:t>
            </a:r>
          </a:p>
          <a:p>
            <a:pPr/>
            <a:r>
              <a:rPr/>
              <a:t>当前主应用约 9,677 行 app.py，模板约 54 个，属于单体 Flask 应用</a:t>
            </a:r>
          </a:p>
          <a:p>
            <a:pPr/>
            <a:r>
              <a:rPr/>
              <a:t>[待优化] 统一 README、系统手册与实际部署配置的版本信息</a:t>
            </a:r>
          </a:p>
          <a:p>
            <a:pPr/>
            <a:r>
              <a:rPr/>
              <a:t>[待优化] 强化代码执行隔离：当前主要是子进程、超时和文本过滤，不是容器级沙箱</a:t>
            </a:r>
          </a:p>
          <a:p>
            <a:pPr/>
            <a:r>
              <a:rPr/>
              <a:t>[待优化] 进一步收紧权限、拆分模块、增加自动化测试和任务队列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来源：项目统计；docs/system-manual.md:337-387；README.md:203-218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项目将课程资源、AI 出题、人工审核、学生练习、考试评价和学习反馈连接成闭环</a:t>
            </a:r>
          </a:p>
          <a:p>
            <a:pPr/>
            <a:r>
              <a:rPr/>
              <a:t>知识库与知识图谱支持从文档到概念关系的结构化学习</a:t>
            </a:r>
          </a:p>
          <a:p>
            <a:pPr/>
            <a:r>
              <a:rPr/>
              <a:t>文献检索和学习笔记扩展了课程资源与学生个性化学习路径</a:t>
            </a:r>
          </a:p>
          <a:p>
            <a:pPr/>
            <a:r>
              <a:rPr/>
              <a:t>后续可围绕安全、可维护性、数据分析和教学效果评估持续完善</a:t>
            </a:r>
          </a:p>
          <a:p>
            <a:pPr/>
            <a:r>
              <a:rPr/>
              <a:t>致谢与现场答疑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来源：README.md:1-35；docs/system-manual.md:23-39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</a:t>
            </a:r>
          </a:p>
          <a:p/>
          <a:p>
            <a:r>
              <a:t>项目入口：[待补充]</a:t>
            </a:r>
          </a:p>
          <a:p>
            <a:r>
              <a:t>当前部署入口：http://172.24.64.53:8080</a:t>
            </a:r>
          </a:p>
          <a:p/>
          <a:p>
            <a:r>
              <a:t>项目作者信息：Songht（README.md:216-218）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